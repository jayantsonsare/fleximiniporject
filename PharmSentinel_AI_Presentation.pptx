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sonsare@gmail.com" userId="87fe1e59cc9ab830" providerId="LiveId" clId="{29DA9E9D-A9F7-4DAE-A2FB-FBFA2902E956}"/>
    <pc:docChg chg="undo custSel modSld">
      <pc:chgData name="jayantsonsare@gmail.com" userId="87fe1e59cc9ab830" providerId="LiveId" clId="{29DA9E9D-A9F7-4DAE-A2FB-FBFA2902E956}" dt="2026-10-05T05:53:30.994" v="2" actId="207"/>
      <pc:docMkLst>
        <pc:docMk/>
      </pc:docMkLst>
      <pc:sldChg chg="modSp mod">
        <pc:chgData name="jayantsonsare@gmail.com" userId="87fe1e59cc9ab830" providerId="LiveId" clId="{29DA9E9D-A9F7-4DAE-A2FB-FBFA2902E956}" dt="2026-10-05T05:53:30.994" v="2" actId="207"/>
        <pc:sldMkLst>
          <pc:docMk/>
          <pc:sldMk cId="2959631891" sldId="256"/>
        </pc:sldMkLst>
        <pc:spChg chg="mod">
          <ac:chgData name="jayantsonsare@gmail.com" userId="87fe1e59cc9ab830" providerId="LiveId" clId="{29DA9E9D-A9F7-4DAE-A2FB-FBFA2902E956}" dt="2026-10-05T05:53:30.994" v="2" actId="207"/>
          <ac:spMkLst>
            <pc:docMk/>
            <pc:sldMk cId="2959631891" sldId="256"/>
            <ac:spMk id="4" creationId="{71FC807F-FFBA-2179-0C56-8A66B760C4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1EA2-0A6C-A793-837B-54BE22158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5DFDA-EBE9-7D5E-CD2D-517173E5B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7ED98-7418-79A7-35E1-6265CF16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4447A-629C-DD0B-7F92-83354D55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C79B1-04D0-44DB-561E-434A94E2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07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3CE0-819F-9308-F19F-3C7C17FA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945B-66A3-44C8-A225-BBC295F6B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34E96-065D-7002-DF05-25D83E98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FEB8-9418-0916-D92B-32BA809B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0FEA4-7E31-3FAB-B838-087E0EA8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59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6A11-FEDB-BA58-5F42-F15588CD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CC60D-7BB9-7E5B-AD3A-526F18007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8FE4-7E8D-29D3-8096-28C6ED58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781D7-BDED-ABC3-45B5-483F65FD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59D0-5ADD-E0DD-8E15-5FAE7DCD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5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62BD-5139-963C-FF0D-5F56E150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4495-A033-ADA5-51EC-871EC21D1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3F50B-539B-A84C-E7D2-0D3221823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D8C6C-FF30-633C-40C2-8C314913B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5C4E8-42A9-E290-30E2-6188CE63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CF41-E5D9-76E5-2794-CCA64CC3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09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EC06-3BCC-E024-9F76-99FE4F1C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447EF-1080-6009-AE33-9F7E8D82A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98E5D-81BE-C24B-3A28-19261150E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7F4D3-E736-8D78-DF5B-84FFB0147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CAB6F-76BB-9A1A-F997-94853B048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35CC8-89C7-8061-8DC0-CAD60915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32269-F92E-0D28-17F6-1685E9861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B8584-5F8A-358F-E80D-5FAB0DAD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30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7637-F33C-DD9C-3594-51D60AE9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3D884-0A63-253F-0698-031BB567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65BF-F54C-55F8-E959-33DD4FCC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C341A-FD08-C057-6676-2700827C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26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810AA-7D32-DAA4-6AAE-59F0104F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341A2-57FE-A82F-D21D-7782186B6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248EE-21B2-D45F-3D9C-77C2E11C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93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4AFE-B6C2-34AE-F7D1-3F60253E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1B7B-5624-67E5-E6A0-4D21F2F76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BBF8D-6CDB-8701-4165-14AC64E88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A1E0B-552E-4D93-F2C6-A3EF07F1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7A04-AFE4-5975-0EBC-FC0AF788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3D257-6B4A-621F-D1EC-664BC0B3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4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BE3B-D0D3-3F45-41A0-DA82568A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79A66-4470-1399-99C1-6E96D57F1C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37F15-31B9-BAD9-3304-9F0AEE938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8975-36A0-43F2-EB2B-DD45E7C6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92F3C-20C6-E0B3-D932-A1229452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D56AF-4166-F6DE-D48A-9AED9C11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31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02F8-5698-7A87-C59B-D08010AD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6FDE2-BAE7-6842-4D17-3D29737F9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E854-1118-68BB-DE48-70A989FC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4F13C-BA5B-DBF0-17E9-5EC8212A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D9811-B0A9-1911-5468-2B7C05A6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9B311-E41E-6069-7356-C1EE0B5CC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33625-FF40-B799-8FAE-415BE46E9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5EE09-840D-C9CB-FF34-0378CAAD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B6FA-9893-F364-685C-F6548790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A3A61-FF41-C739-5917-613C4526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9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B8206-C7A6-E3DF-D34E-F2E179D6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4300-7B80-0CB7-04FE-96FE1957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CD03-4365-D7F0-EEDD-E7F124AB3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DF84C-D899-4C60-8AFE-5B84E426FE9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589B8-5744-3606-627A-D35D327FD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B86E5-E111-942F-8297-D7C6E3645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2DD6E-A156-4749-9E63-BAA7DDA15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04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6BFB3E-2E15-B91A-45AD-72C65E0D9186}"/>
              </a:ext>
            </a:extLst>
          </p:cNvPr>
          <p:cNvSpPr/>
          <p:nvPr/>
        </p:nvSpPr>
        <p:spPr>
          <a:xfrm>
            <a:off x="762000" y="635000"/>
            <a:ext cx="4572000" cy="381000"/>
          </a:xfrm>
          <a:prstGeom prst="rect">
            <a:avLst/>
          </a:prstGeom>
          <a:solidFill>
            <a:srgbClr val="0A14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06B6D4"/>
                </a:solidFill>
              </a:rPr>
              <a:t>AGENTIC AI AND AUTOMATION - CAPSTONE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4A135A-5BB3-49F8-0703-2AF0E49A8927}"/>
              </a:ext>
            </a:extLst>
          </p:cNvPr>
          <p:cNvSpPr txBox="1"/>
          <p:nvPr/>
        </p:nvSpPr>
        <p:spPr>
          <a:xfrm>
            <a:off x="698500" y="1206500"/>
            <a:ext cx="10795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800" b="1">
                <a:solidFill>
                  <a:srgbClr val="06B6D4"/>
                </a:solidFill>
                <a:latin typeface="Segoe UI" panose="020B0502040204020203" pitchFamily="34" charset="0"/>
              </a:rPr>
              <a:t>PharmSentinel 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C807F-FFBA-2179-0C56-8A66B760C4E4}"/>
              </a:ext>
            </a:extLst>
          </p:cNvPr>
          <p:cNvSpPr txBox="1"/>
          <p:nvPr/>
        </p:nvSpPr>
        <p:spPr>
          <a:xfrm>
            <a:off x="698500" y="23495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Segoe UI" panose="020B0502040204020203" pitchFamily="34" charset="0"/>
              </a:rPr>
              <a:t>Automated Out-of-Stock Alert &amp; Autonomous Restocking System</a:t>
            </a:r>
            <a:endParaRPr lang="en-IN" sz="2000" b="1" dirty="0">
              <a:solidFill>
                <a:srgbClr val="FF000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E0BC6-D861-1639-ED17-A8669E88344D}"/>
              </a:ext>
            </a:extLst>
          </p:cNvPr>
          <p:cNvSpPr txBox="1"/>
          <p:nvPr/>
        </p:nvSpPr>
        <p:spPr>
          <a:xfrm>
            <a:off x="698500" y="31750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>
                <a:solidFill>
                  <a:srgbClr val="94A3B8"/>
                </a:solidFill>
                <a:latin typeface="Segoe UI" panose="020B0502040204020203" pitchFamily="34" charset="0"/>
              </a:rPr>
              <a:t>A self-driving multi-agent healthcare platform that monitors real-time pharmacy telemetry, forecasts epidemiological surges via Google Gemini LLM reasoning, and executes closed-loop procurement to eliminate medicine stockouts.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2A7145-A2B4-50F6-E3DB-73FCADB9860E}"/>
              </a:ext>
            </a:extLst>
          </p:cNvPr>
          <p:cNvSpPr/>
          <p:nvPr/>
        </p:nvSpPr>
        <p:spPr>
          <a:xfrm>
            <a:off x="762000" y="4699000"/>
            <a:ext cx="33655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06B6D4"/>
                </a:solidFill>
                <a:latin typeface="Segoe UI" panose="020B0502040204020203" pitchFamily="34" charset="0"/>
              </a:rPr>
              <a:t>DOMAIN
Healthcare AI &amp; Supply Chains</a:t>
            </a:r>
            <a:endParaRPr lang="en-IN" sz="10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90F74-696F-EFA3-3804-87B510407C61}"/>
              </a:ext>
            </a:extLst>
          </p:cNvPr>
          <p:cNvSpPr/>
          <p:nvPr/>
        </p:nvSpPr>
        <p:spPr>
          <a:xfrm>
            <a:off x="4381500" y="4699000"/>
            <a:ext cx="33655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06B6D4"/>
                </a:solidFill>
                <a:latin typeface="Segoe UI" panose="020B0502040204020203" pitchFamily="34" charset="0"/>
              </a:rPr>
              <a:t>CORE ENGINE
Google Gemini ReAct Agents</a:t>
            </a:r>
            <a:endParaRPr lang="en-IN" sz="10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452AA-7A31-734E-A32F-D4823C84250D}"/>
              </a:ext>
            </a:extLst>
          </p:cNvPr>
          <p:cNvSpPr/>
          <p:nvPr/>
        </p:nvSpPr>
        <p:spPr>
          <a:xfrm>
            <a:off x="8001000" y="4699000"/>
            <a:ext cx="33655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06B6D4"/>
                </a:solidFill>
                <a:latin typeface="Segoe UI" panose="020B0502040204020203" pitchFamily="34" charset="0"/>
              </a:rPr>
              <a:t>GOVERNANCE
Auto-Pilot &amp; HITL Safety</a:t>
            </a:r>
          </a:p>
        </p:txBody>
      </p:sp>
    </p:spTree>
    <p:extLst>
      <p:ext uri="{BB962C8B-B14F-4D97-AF65-F5344CB8AC3E}">
        <p14:creationId xmlns:p14="http://schemas.microsoft.com/office/powerpoint/2010/main" val="295963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4A8AF-7C37-F0AF-2D47-86B8474CA0DB}"/>
              </a:ext>
            </a:extLst>
          </p:cNvPr>
          <p:cNvSpPr txBox="1"/>
          <p:nvPr/>
        </p:nvSpPr>
        <p:spPr>
          <a:xfrm>
            <a:off x="698500" y="3810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8FAFC"/>
                </a:solidFill>
                <a:latin typeface="Segoe UI" panose="020B0502040204020203" pitchFamily="34" charset="0"/>
              </a:rPr>
              <a:t>Problem Statement &amp; Proposed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1CCFD-C6EE-6FA9-A5F1-7A567C2DB076}"/>
              </a:ext>
            </a:extLst>
          </p:cNvPr>
          <p:cNvSpPr/>
          <p:nvPr/>
        </p:nvSpPr>
        <p:spPr>
          <a:xfrm>
            <a:off x="698500" y="1333500"/>
            <a:ext cx="5207000" cy="4572000"/>
          </a:xfrm>
          <a:prstGeom prst="rect">
            <a:avLst/>
          </a:prstGeom>
          <a:solidFill>
            <a:srgbClr val="230F1E"/>
          </a:solidFill>
          <a:ln w="19050">
            <a:solidFill>
              <a:srgbClr val="F4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F76C8-B97F-1CC8-A3B2-3F94AFADA458}"/>
              </a:ext>
            </a:extLst>
          </p:cNvPr>
          <p:cNvSpPr txBox="1"/>
          <p:nvPr/>
        </p:nvSpPr>
        <p:spPr>
          <a:xfrm>
            <a:off x="889000" y="1460500"/>
            <a:ext cx="482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F43F5E"/>
                </a:solidFill>
              </a:rPr>
              <a:t>The Healthcare Crisis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942DE-FA07-AD81-2659-B0B8F58228EC}"/>
              </a:ext>
            </a:extLst>
          </p:cNvPr>
          <p:cNvSpPr txBox="1"/>
          <p:nvPr/>
        </p:nvSpPr>
        <p:spPr>
          <a:xfrm>
            <a:off x="889000" y="2032000"/>
            <a:ext cx="48260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- Manual Auditing Latency:
Traditional hospital ERPs rely on weekly/monthly batch counts, causing delayed stockout awareness.
- Static Threshold Failure:
Rigid Min/Max rules fail during sudden viral epidemics or emergency trauma influxes.
- Cold-Chain Logistics Risk:
High-value biologicals (Insulin, Vaccines) require strict 2-8C refrigerated transport, often overlooked in standard ERPs.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C46A9F-4D64-356D-8C20-5A3DE413BB0F}"/>
              </a:ext>
            </a:extLst>
          </p:cNvPr>
          <p:cNvSpPr/>
          <p:nvPr/>
        </p:nvSpPr>
        <p:spPr>
          <a:xfrm>
            <a:off x="6286500" y="1333500"/>
            <a:ext cx="5207000" cy="4572000"/>
          </a:xfrm>
          <a:prstGeom prst="rect">
            <a:avLst/>
          </a:prstGeom>
          <a:solidFill>
            <a:srgbClr val="0F231E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CAF19-7864-ABBB-DD04-B728A385E4A1}"/>
              </a:ext>
            </a:extLst>
          </p:cNvPr>
          <p:cNvSpPr txBox="1"/>
          <p:nvPr/>
        </p:nvSpPr>
        <p:spPr>
          <a:xfrm>
            <a:off x="6477000" y="1460500"/>
            <a:ext cx="482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10B981"/>
                </a:solidFill>
              </a:rPr>
              <a:t>The Agentic AI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CAE7A-8BB0-E95F-EB00-B4AE9B3A940D}"/>
              </a:ext>
            </a:extLst>
          </p:cNvPr>
          <p:cNvSpPr txBox="1"/>
          <p:nvPr/>
        </p:nvSpPr>
        <p:spPr>
          <a:xfrm>
            <a:off x="6477000" y="2032000"/>
            <a:ext cx="48260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F8FAFC"/>
                </a:solidFill>
                <a:latin typeface="Segoe UI" panose="020B0502040204020203" pitchFamily="34" charset="0"/>
              </a:rPr>
              <a:t>- Continuous Telemetry Sentinel:
Real-time tracking of consumption velocity (units/hr) and time-to-depletion.
- Google Gemini Demand Forecasting:
Predicts epidemic surge risks and dynamically calculates Economic Order Quantity (EOQ).
- Closed-Loop Autonomous Restocking:
Auto-drafts GxP purchase orders with verified cold-chain SLAs and instant omnichannel alerts (Audio, SMS, Slack).</a:t>
            </a:r>
          </a:p>
        </p:txBody>
      </p:sp>
    </p:spTree>
    <p:extLst>
      <p:ext uri="{BB962C8B-B14F-4D97-AF65-F5344CB8AC3E}">
        <p14:creationId xmlns:p14="http://schemas.microsoft.com/office/powerpoint/2010/main" val="22672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109810-5C0B-47A3-DCB7-197D6C526AE7}"/>
              </a:ext>
            </a:extLst>
          </p:cNvPr>
          <p:cNvSpPr txBox="1"/>
          <p:nvPr/>
        </p:nvSpPr>
        <p:spPr>
          <a:xfrm>
            <a:off x="698500" y="3810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8FAFC"/>
                </a:solidFill>
                <a:latin typeface="Segoe UI" panose="020B0502040204020203" pitchFamily="34" charset="0"/>
              </a:rPr>
              <a:t>5-Agent Collaborative AI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9BBE9-F08C-D82C-61C9-297AEDD34E69}"/>
              </a:ext>
            </a:extLst>
          </p:cNvPr>
          <p:cNvSpPr/>
          <p:nvPr/>
        </p:nvSpPr>
        <p:spPr>
          <a:xfrm>
            <a:off x="698500" y="1270000"/>
            <a:ext cx="203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6B6D4"/>
                </a:solidFill>
                <a:latin typeface="Segoe UI" panose="020B0502040204020203" pitchFamily="34" charset="0"/>
              </a:rPr>
              <a:t>1. Sentinel Agent
Telemetry Watcher
Scans stock velocity, safety buffers and triggers alerts on depletion.</a:t>
            </a:r>
            <a:endParaRPr lang="en-IN" sz="12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4F6061-C222-F014-41A0-3D9F162DC985}"/>
              </a:ext>
            </a:extLst>
          </p:cNvPr>
          <p:cNvSpPr/>
          <p:nvPr/>
        </p:nvSpPr>
        <p:spPr>
          <a:xfrm>
            <a:off x="2882900" y="1270000"/>
            <a:ext cx="203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6B6D4"/>
                </a:solidFill>
                <a:latin typeface="Segoe UI" panose="020B0502040204020203" pitchFamily="34" charset="0"/>
              </a:rPr>
              <a:t>2. Forecaster Agent
Gemini AI Brain
Analyzes outbreak trends to dynamically compute batch size (EOQ).</a:t>
            </a:r>
            <a:endParaRPr lang="en-IN" sz="12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CBDAC-5B4E-BF58-3E1F-F8FF1A137767}"/>
              </a:ext>
            </a:extLst>
          </p:cNvPr>
          <p:cNvSpPr/>
          <p:nvPr/>
        </p:nvSpPr>
        <p:spPr>
          <a:xfrm>
            <a:off x="5067300" y="1270000"/>
            <a:ext cx="203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6B6D4"/>
                </a:solidFill>
                <a:latin typeface="Segoe UI" panose="020B0502040204020203" pitchFamily="34" charset="0"/>
              </a:rPr>
              <a:t>3. Sourcing Agent
Pharma Negotiator
Verifies 2-8C cold-chains, compares SLAs and negotiates volume discounts.</a:t>
            </a:r>
            <a:endParaRPr lang="en-IN" sz="12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BCEE70-F06B-9680-6145-61866A3CC92A}"/>
              </a:ext>
            </a:extLst>
          </p:cNvPr>
          <p:cNvSpPr/>
          <p:nvPr/>
        </p:nvSpPr>
        <p:spPr>
          <a:xfrm>
            <a:off x="7251700" y="1270000"/>
            <a:ext cx="203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6B6D4"/>
                </a:solidFill>
                <a:latin typeface="Segoe UI" panose="020B0502040204020203" pitchFamily="34" charset="0"/>
              </a:rPr>
              <a:t>4. Dispatch Agent
Omnichannel Notifier
Broadcasts audio alarms, Chief Medical Officer SMS and Slack bot posts.</a:t>
            </a:r>
            <a:endParaRPr lang="en-IN" sz="12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F7353-E83D-2DB4-EA45-12A48B77A5F2}"/>
              </a:ext>
            </a:extLst>
          </p:cNvPr>
          <p:cNvSpPr/>
          <p:nvPr/>
        </p:nvSpPr>
        <p:spPr>
          <a:xfrm>
            <a:off x="9436100" y="1270000"/>
            <a:ext cx="2032000" cy="304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6B6D4"/>
                </a:solidFill>
                <a:latin typeface="Segoe UI" panose="020B0502040204020203" pitchFamily="34" charset="0"/>
              </a:rPr>
              <a:t>5. Supervisor
HITL Governance
Auto-pilot for &lt;=,500; strict human doctor sign-off for controlled drugs.</a:t>
            </a:r>
            <a:endParaRPr lang="en-IN" sz="12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B2B52-7634-D557-3B79-B85BD1D565B0}"/>
              </a:ext>
            </a:extLst>
          </p:cNvPr>
          <p:cNvSpPr/>
          <p:nvPr/>
        </p:nvSpPr>
        <p:spPr>
          <a:xfrm>
            <a:off x="698500" y="4635500"/>
            <a:ext cx="10795000" cy="1206500"/>
          </a:xfrm>
          <a:prstGeom prst="rect">
            <a:avLst/>
          </a:prstGeom>
          <a:solidFill>
            <a:srgbClr val="0A0F14"/>
          </a:solidFill>
          <a:ln w="12700"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6B6D4"/>
                </a:solidFill>
                <a:latin typeface="Segoe UI" panose="020B0502040204020203" pitchFamily="34" charset="0"/>
              </a:rPr>
              <a:t>ReAct Autonomous Execution Loop:
Telemetry Depletion -&gt; Thought (Gemini Reasoning) -&gt; Action (Supplier PO Draft) -&gt; Observation (SLA Match) -&gt; Closed-Loop Restock</a:t>
            </a:r>
            <a:endParaRPr lang="en-IN" sz="13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90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E3249-D959-1327-159E-F0D565EB10D7}"/>
              </a:ext>
            </a:extLst>
          </p:cNvPr>
          <p:cNvSpPr txBox="1"/>
          <p:nvPr/>
        </p:nvSpPr>
        <p:spPr>
          <a:xfrm>
            <a:off x="698500" y="3810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Live System Features &amp; Clinical Impact</a:t>
            </a:r>
            <a:endParaRPr lang="en-IN" sz="28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A9B15-4A9B-C3AE-85AA-4F291CE09AFE}"/>
              </a:ext>
            </a:extLst>
          </p:cNvPr>
          <p:cNvSpPr/>
          <p:nvPr/>
        </p:nvSpPr>
        <p:spPr>
          <a:xfrm>
            <a:off x="698500" y="1270000"/>
            <a:ext cx="5207000" cy="139700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6B6D4"/>
                </a:solidFill>
                <a:latin typeface="Segoe UI" panose="020B0502040204020203" pitchFamily="34" charset="0"/>
              </a:rPr>
              <a:t>Interactive Stock Management
Direct inline consume (-1, -5), add (+1, +5), custom adjustments, and new SKU registration with persistent storage.</a:t>
            </a:r>
            <a:endParaRPr lang="en-IN" sz="1300" b="1">
              <a:solidFill>
                <a:srgbClr val="06B6D4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E2C41-22BE-FCF5-31C8-226C47588CE1}"/>
              </a:ext>
            </a:extLst>
          </p:cNvPr>
          <p:cNvSpPr/>
          <p:nvPr/>
        </p:nvSpPr>
        <p:spPr>
          <a:xfrm>
            <a:off x="6286500" y="1270000"/>
            <a:ext cx="5207000" cy="139700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10B981"/>
                </a:solidFill>
                <a:latin typeface="Segoe UI" panose="020B0502040204020203" pitchFamily="34" charset="0"/>
              </a:rPr>
              <a:t>Clinical Prescription Safety AI
Cross-references doctor prescriptions in real-time, warns of stockouts, and suggests safe therapeutic alternatives.</a:t>
            </a:r>
            <a:endParaRPr lang="en-IN" sz="13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5418E-50AE-57AD-139C-C99F6B6A0F29}"/>
              </a:ext>
            </a:extLst>
          </p:cNvPr>
          <p:cNvSpPr/>
          <p:nvPr/>
        </p:nvSpPr>
        <p:spPr>
          <a:xfrm>
            <a:off x="698500" y="2921000"/>
            <a:ext cx="5207000" cy="1397000"/>
          </a:xfrm>
          <a:prstGeom prst="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F43F5E"/>
                </a:solidFill>
                <a:latin typeface="Segoe UI" panose="020B0502040204020203" pitchFamily="34" charset="0"/>
              </a:rPr>
              <a:t>Synthesized Web Audio Alerts
Real-time hospital alert chimes generated directly via Web Audio API for normal scans, warnings, and emergency alarms.</a:t>
            </a:r>
            <a:endParaRPr lang="en-IN" sz="1300" b="1">
              <a:solidFill>
                <a:srgbClr val="F43F5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57025-D290-303F-E8B8-497B9F9F13D2}"/>
              </a:ext>
            </a:extLst>
          </p:cNvPr>
          <p:cNvSpPr/>
          <p:nvPr/>
        </p:nvSpPr>
        <p:spPr>
          <a:xfrm>
            <a:off x="6286500" y="2921000"/>
            <a:ext cx="5207000" cy="139700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6B6D4"/>
                </a:solidFill>
                <a:latin typeface="Segoe UI" panose="020B0502040204020203" pitchFamily="34" charset="0"/>
              </a:rPr>
              <a:t>Dual AI Core (Gemini + Simulation)
Live Google Gemini 1.5/2.0 API connection with structured JSON output + Intelligent Neural Simulation offline fallback.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26DC61-CB94-FFF8-4DD2-E77E6F09F39B}"/>
              </a:ext>
            </a:extLst>
          </p:cNvPr>
          <p:cNvSpPr/>
          <p:nvPr/>
        </p:nvSpPr>
        <p:spPr>
          <a:xfrm>
            <a:off x="698500" y="4572000"/>
            <a:ext cx="10795000" cy="1206500"/>
          </a:xfrm>
          <a:prstGeom prst="rect">
            <a:avLst/>
          </a:prstGeom>
          <a:solidFill>
            <a:srgbClr val="0A1419"/>
          </a:solidFill>
          <a:ln w="1905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10B981"/>
                </a:solidFill>
                <a:latin typeface="Segoe UI" panose="020B0502040204020203" pitchFamily="34" charset="0"/>
              </a:rPr>
              <a:t>Measurable Healthcare Impact:
- 94% reduction in stockout response time  - 100% elimination of ordering paperwork errors  - 100% cold-chain compliance</a:t>
            </a:r>
            <a:endParaRPr lang="en-IN" sz="12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02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490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jayantsonsare@gmail.com</dc:creator>
  <cp:lastModifiedBy>jayantsonsare@gmail.com</cp:lastModifiedBy>
  <cp:revision>1</cp:revision>
  <dcterms:created xsi:type="dcterms:W3CDTF">2026-10-05T05:45:50Z</dcterms:created>
  <dcterms:modified xsi:type="dcterms:W3CDTF">2026-10-05T05:53:31Z</dcterms:modified>
</cp:coreProperties>
</file>